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4"/>
  </p:notesMasterIdLst>
  <p:handoutMasterIdLst>
    <p:handoutMasterId r:id="rId15"/>
  </p:handoutMasterIdLst>
  <p:sldIdLst>
    <p:sldId id="350" r:id="rId5"/>
    <p:sldId id="369" r:id="rId6"/>
    <p:sldId id="370" r:id="rId7"/>
    <p:sldId id="371" r:id="rId8"/>
    <p:sldId id="372" r:id="rId9"/>
    <p:sldId id="373" r:id="rId10"/>
    <p:sldId id="362" r:id="rId11"/>
    <p:sldId id="361" r:id="rId12"/>
    <p:sldId id="34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814" autoAdjust="0"/>
    <p:restoredTop sz="95226" autoAdjust="0"/>
  </p:normalViewPr>
  <p:slideViewPr>
    <p:cSldViewPr snapToGrid="0">
      <p:cViewPr varScale="1">
        <p:scale>
          <a:sx n="112" d="100"/>
          <a:sy n="112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D13E5-4CEC-3A4A-8E5D-AFCEE7512EEC}" type="slidenum"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8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10C66-2FF2-41F8-98FA-BE498336964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851A3FD-B717-4588-9809-4FFAC5FF47A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‹Nº›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85929-1018-4370-A170-074C414B228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84536E-AD08-4371-85E9-A816C30B6A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‹Nº›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78EA5-216B-41F7-80D1-9ED07FFDB6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2CC63-C628-4456-9B92-DA4E670BAC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‹Nº›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2D896-6ACC-40D7-8D8B-F9AF3E7DE1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9F7A1E-B7E2-4E9C-A66C-BCE08900C5F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‹Nº›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b="1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Shape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Picture Placeholder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Shape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66" name="Picture Placeholder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9" name="Picture Placeholder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0184F-2619-4333-B49F-C7ACE8B2C3A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5A1C65-B00C-4CA4-83B6-3DFA3DF9629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‹Nº›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6" name="Text Placeholder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" name="Text Placeholder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" name="Text Placeholder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3" name="Text Placeholder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>
              <a:spcBef>
                <a:spcPts val="4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6" name="Text Placeholder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7" name="Text Placeholder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>
              <a:spcBef>
                <a:spcPts val="4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8" name="Text Placeholder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6DFD4-BF8C-4939-874D-85B7DF956768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3856F-38E9-4BBF-93D8-0F8AC2E0E6C7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‹Nº›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060DA6-6E6F-47BF-9680-1B030F525D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F140D-2B48-4E31-9E97-08B68ABBAC1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‹Nº›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79B87D-E8CF-49AE-9326-2FEED2392F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139CE-3E4D-4224-B157-2D29EC10FE4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‹Nº›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F2453-9E16-47FE-A8ED-4661246DE59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6E9EA-D950-424A-BC92-F6794D6E5D6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‹Nº›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6FCA8E82-58CD-E045-8B98-B7A85B79B752}" type="datetime4">
              <a:rPr lang="en-US" smtClean="0"/>
              <a:pPr/>
              <a:t>February 21, 2026</a:t>
            </a:fld>
            <a:endParaRPr lang="en-US" dirty="0">
              <a:latin typeface="+mn-lt"/>
            </a:endParaRP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Annual Review</a:t>
            </a:r>
            <a:endParaRPr lang="en-US" b="0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‹Nº›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76" r:id="rId8"/>
    <p:sldLayoutId id="2147483677" r:id="rId9"/>
    <p:sldLayoutId id="2147483685" r:id="rId10"/>
    <p:sldLayoutId id="2147483688" r:id="rId11"/>
    <p:sldLayoutId id="2147483692" r:id="rId12"/>
    <p:sldLayoutId id="2147483682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jpe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824946" cy="1514019"/>
          </a:xfrm>
        </p:spPr>
        <p:txBody>
          <a:bodyPr/>
          <a:lstStyle/>
          <a:p>
            <a:r>
              <a:rPr lang="es-419" dirty="0"/>
              <a:t>BIS-20 </a:t>
            </a:r>
            <a:r>
              <a:rPr lang="en-US" dirty="0"/>
              <a:t>Programación IV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41976" y="4549553"/>
            <a:ext cx="4916648" cy="953337"/>
          </a:xfrm>
        </p:spPr>
        <p:txBody>
          <a:bodyPr/>
          <a:lstStyle/>
          <a:p>
            <a:r>
              <a:rPr lang="en-US" dirty="0">
                <a:latin typeface="+mj-lt"/>
              </a:rPr>
              <a:t>MSc. Kevin Montes Varela</a:t>
            </a:r>
          </a:p>
          <a:p>
            <a:r>
              <a:rPr lang="en-US" dirty="0"/>
              <a:t>kevin.montes@uamcr.net</a:t>
            </a:r>
          </a:p>
          <a:p>
            <a:r>
              <a:rPr lang="en-US" dirty="0"/>
              <a:t>kevin.montes@kmontes.com</a:t>
            </a:r>
          </a:p>
          <a:p>
            <a:r>
              <a:rPr lang="en-US" dirty="0"/>
              <a:t>Ingeniería de Sistemas</a:t>
            </a:r>
          </a:p>
          <a:p>
            <a:r>
              <a:rPr lang="en-US" dirty="0" err="1"/>
              <a:t>Tarea</a:t>
            </a:r>
            <a:r>
              <a:rPr lang="en-US" dirty="0"/>
              <a:t> 4</a:t>
            </a:r>
          </a:p>
          <a:p>
            <a:endParaRPr lang="en-US" dirty="0"/>
          </a:p>
        </p:txBody>
      </p:sp>
      <p:pic>
        <p:nvPicPr>
          <p:cNvPr id="6146" name="Picture 2" descr="Universidad Americana (UAM)">
            <a:extLst>
              <a:ext uri="{FF2B5EF4-FFF2-40B4-BE49-F238E27FC236}">
                <a16:creationId xmlns:a16="http://schemas.microsoft.com/office/drawing/2014/main" id="{BF264C8D-0BAC-644E-9C5B-C2E43E372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5715000"/>
            <a:ext cx="27432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áfico 4" descr="Abrir sobre con relleno sólido">
            <a:extLst>
              <a:ext uri="{FF2B5EF4-FFF2-40B4-BE49-F238E27FC236}">
                <a16:creationId xmlns:a16="http://schemas.microsoft.com/office/drawing/2014/main" id="{48B897E0-4CB3-F478-1E41-A0FB16ED1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643" y="4941406"/>
            <a:ext cx="461865" cy="461865"/>
          </a:xfrm>
          <a:prstGeom prst="rect">
            <a:avLst/>
          </a:prstGeom>
        </p:spPr>
      </p:pic>
      <p:pic>
        <p:nvPicPr>
          <p:cNvPr id="9" name="Gráfico 8" descr="Libros con relleno sólido">
            <a:extLst>
              <a:ext uri="{FF2B5EF4-FFF2-40B4-BE49-F238E27FC236}">
                <a16:creationId xmlns:a16="http://schemas.microsoft.com/office/drawing/2014/main" id="{F835467C-6E3A-9A94-FB8B-39EBD48984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80061" y="5465566"/>
            <a:ext cx="461865" cy="461865"/>
          </a:xfrm>
          <a:prstGeom prst="rect">
            <a:avLst/>
          </a:prstGeom>
        </p:spPr>
      </p:pic>
      <p:pic>
        <p:nvPicPr>
          <p:cNvPr id="11" name="Gráfico 10" descr="Aula de clases con relleno sólido">
            <a:extLst>
              <a:ext uri="{FF2B5EF4-FFF2-40B4-BE49-F238E27FC236}">
                <a16:creationId xmlns:a16="http://schemas.microsoft.com/office/drawing/2014/main" id="{CAB80893-83C6-FD5D-0B4D-302B9C7AC0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8123" y="4484033"/>
            <a:ext cx="461865" cy="461865"/>
          </a:xfrm>
          <a:prstGeom prst="rect">
            <a:avLst/>
          </a:prstGeom>
        </p:spPr>
      </p:pic>
      <p:pic>
        <p:nvPicPr>
          <p:cNvPr id="13" name="Gráfico 12" descr="Insignia de portapapeles con relleno sólido">
            <a:extLst>
              <a:ext uri="{FF2B5EF4-FFF2-40B4-BE49-F238E27FC236}">
                <a16:creationId xmlns:a16="http://schemas.microsoft.com/office/drawing/2014/main" id="{C96AA633-761F-C27D-AE6F-9415C602FB4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78245" y="5918446"/>
            <a:ext cx="461865" cy="46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EB1D7F-284F-6F46-99FA-EBB8ED69D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161" y="542981"/>
            <a:ext cx="7532277" cy="610863"/>
          </a:xfrm>
        </p:spPr>
        <p:txBody>
          <a:bodyPr>
            <a:normAutofit/>
          </a:bodyPr>
          <a:lstStyle/>
          <a:p>
            <a:r>
              <a:rPr lang="en-US" dirty="0"/>
              <a:t>Enunciado </a:t>
            </a:r>
            <a:r>
              <a:rPr lang="en-US" dirty="0" err="1"/>
              <a:t>Tarea</a:t>
            </a:r>
            <a:r>
              <a:rPr lang="en-US" dirty="0"/>
              <a:t> 4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2DA2B67-BDBB-C945-988B-6C0D86F697C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971550" y="6332220"/>
            <a:ext cx="523240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EAEE347-BDD8-5349-BB37-C8938BFCFF4C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1494790" y="6332220"/>
            <a:ext cx="1497330" cy="247651"/>
          </a:xfrm>
        </p:spPr>
        <p:txBody>
          <a:bodyPr/>
          <a:lstStyle/>
          <a:p>
            <a:r>
              <a:rPr lang="en-US" dirty="0"/>
              <a:t>BIS-20 Programación IV</a:t>
            </a:r>
          </a:p>
        </p:txBody>
      </p:sp>
      <p:sp>
        <p:nvSpPr>
          <p:cNvPr id="50" name="Date Placeholder 3">
            <a:extLst>
              <a:ext uri="{FF2B5EF4-FFF2-40B4-BE49-F238E27FC236}">
                <a16:creationId xmlns:a16="http://schemas.microsoft.com/office/drawing/2014/main" id="{7D353309-7E97-48EA-8ACC-B2751769E2D4}"/>
              </a:ext>
            </a:extLst>
          </p:cNvPr>
          <p:cNvSpPr txBox="1">
            <a:spLocks/>
          </p:cNvSpPr>
          <p:nvPr/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A8E82-58CD-E045-8B98-B7A85B79B752}" type="datetime4">
              <a:rPr lang="en-US" smtClean="0"/>
              <a:pPr/>
              <a:t>February 21, 2026</a:t>
            </a:fld>
            <a:endParaRPr lang="en-US" dirty="0"/>
          </a:p>
        </p:txBody>
      </p:sp>
      <p:pic>
        <p:nvPicPr>
          <p:cNvPr id="2" name="Picture 2" descr="Universidad Americana (UAM)">
            <a:extLst>
              <a:ext uri="{FF2B5EF4-FFF2-40B4-BE49-F238E27FC236}">
                <a16:creationId xmlns:a16="http://schemas.microsoft.com/office/drawing/2014/main" id="{DAD1B97A-5E54-DBD8-AEC4-CA791117E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5715000"/>
            <a:ext cx="27432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40C18AD-0A7C-2D32-B946-0B2D0DFBDEEB}"/>
              </a:ext>
            </a:extLst>
          </p:cNvPr>
          <p:cNvSpPr txBox="1">
            <a:spLocks/>
          </p:cNvSpPr>
          <p:nvPr/>
        </p:nvSpPr>
        <p:spPr>
          <a:xfrm>
            <a:off x="991444" y="1368448"/>
            <a:ext cx="5831632" cy="38287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419" dirty="0"/>
              <a:t>Consiste en una tarea desarrollada de forma individual en donde debe crear el funcionamiento de los atributos y procesos de diferentes atracciones de un parque de diversiones.</a:t>
            </a:r>
          </a:p>
          <a:p>
            <a:pPr algn="just"/>
            <a:r>
              <a:rPr lang="es-419" dirty="0"/>
              <a:t>El ejercicio debe realizarse en una solución de Visual Studio bajo la estructura de capas (BLL, DAL, PL). </a:t>
            </a:r>
          </a:p>
          <a:p>
            <a:pPr algn="just"/>
            <a:r>
              <a:rPr lang="es-419" dirty="0"/>
              <a:t>El estudiante puede hacer uso del proyecto base que proporciona la herramienta.</a:t>
            </a:r>
          </a:p>
          <a:p>
            <a:pPr algn="just"/>
            <a:endParaRPr lang="es-419" dirty="0"/>
          </a:p>
          <a:p>
            <a:pPr algn="just"/>
            <a:r>
              <a:rPr lang="es-419" dirty="0">
                <a:highlight>
                  <a:srgbClr val="FFFF00"/>
                </a:highlight>
              </a:rPr>
              <a:t>La estructura de diseño debe ser desarrollada utilizando únicamente controles HTML.</a:t>
            </a:r>
          </a:p>
          <a:p>
            <a:pPr algn="just"/>
            <a:r>
              <a:rPr lang="en-US" dirty="0"/>
              <a:t>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126B487-0C1F-9BF2-110D-0D8B79ECD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533" y="936516"/>
            <a:ext cx="3714459" cy="22265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2" descr="Las preferencias de los estudiantes para elegir carrera universitaria">
            <a:extLst>
              <a:ext uri="{FF2B5EF4-FFF2-40B4-BE49-F238E27FC236}">
                <a16:creationId xmlns:a16="http://schemas.microsoft.com/office/drawing/2014/main" id="{A5BBED1B-CB82-F53E-C9BA-05D587EA9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078" y="2169518"/>
            <a:ext cx="3720277" cy="222656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Trabajos escritos – Estar bien Ibero">
            <a:extLst>
              <a:ext uri="{FF2B5EF4-FFF2-40B4-BE49-F238E27FC236}">
                <a16:creationId xmlns:a16="http://schemas.microsoft.com/office/drawing/2014/main" id="{AB68A65B-B23B-32E5-1D83-4EE7BD382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569" y="3429000"/>
            <a:ext cx="3600831" cy="210335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289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EB1D7F-284F-6F46-99FA-EBB8ED69D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161" y="542981"/>
            <a:ext cx="7532277" cy="610863"/>
          </a:xfrm>
        </p:spPr>
        <p:txBody>
          <a:bodyPr>
            <a:normAutofit/>
          </a:bodyPr>
          <a:lstStyle/>
          <a:p>
            <a:r>
              <a:rPr lang="en-US" b="0" dirty="0"/>
              <a:t>Enunciad</a:t>
            </a:r>
            <a:r>
              <a:rPr lang="en-US" dirty="0"/>
              <a:t>o </a:t>
            </a:r>
            <a:r>
              <a:rPr lang="en-US" dirty="0" err="1"/>
              <a:t>Tarea</a:t>
            </a:r>
            <a:r>
              <a:rPr lang="en-US" dirty="0"/>
              <a:t> 3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2DA2B67-BDBB-C945-988B-6C0D86F697C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971550" y="6332220"/>
            <a:ext cx="523240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EAEE347-BDD8-5349-BB37-C8938BFCFF4C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1494790" y="6332220"/>
            <a:ext cx="1497330" cy="247651"/>
          </a:xfrm>
        </p:spPr>
        <p:txBody>
          <a:bodyPr/>
          <a:lstStyle/>
          <a:p>
            <a:r>
              <a:rPr lang="en-US" dirty="0"/>
              <a:t>BIS-20 Programación IV</a:t>
            </a:r>
          </a:p>
        </p:txBody>
      </p:sp>
      <p:sp>
        <p:nvSpPr>
          <p:cNvPr id="50" name="Date Placeholder 3">
            <a:extLst>
              <a:ext uri="{FF2B5EF4-FFF2-40B4-BE49-F238E27FC236}">
                <a16:creationId xmlns:a16="http://schemas.microsoft.com/office/drawing/2014/main" id="{7D353309-7E97-48EA-8ACC-B2751769E2D4}"/>
              </a:ext>
            </a:extLst>
          </p:cNvPr>
          <p:cNvSpPr txBox="1">
            <a:spLocks/>
          </p:cNvSpPr>
          <p:nvPr/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A8E82-58CD-E045-8B98-B7A85B79B752}" type="datetime4">
              <a:rPr lang="en-US" smtClean="0"/>
              <a:pPr/>
              <a:t>February 21, 2026</a:t>
            </a:fld>
            <a:endParaRPr lang="en-US" dirty="0"/>
          </a:p>
        </p:txBody>
      </p:sp>
      <p:pic>
        <p:nvPicPr>
          <p:cNvPr id="2" name="Picture 2" descr="Universidad Americana (UAM)">
            <a:extLst>
              <a:ext uri="{FF2B5EF4-FFF2-40B4-BE49-F238E27FC236}">
                <a16:creationId xmlns:a16="http://schemas.microsoft.com/office/drawing/2014/main" id="{DAD1B97A-5E54-DBD8-AEC4-CA791117E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5715000"/>
            <a:ext cx="27432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40C18AD-0A7C-2D32-B946-0B2D0DFBDEEB}"/>
              </a:ext>
            </a:extLst>
          </p:cNvPr>
          <p:cNvSpPr txBox="1">
            <a:spLocks/>
          </p:cNvSpPr>
          <p:nvPr/>
        </p:nvSpPr>
        <p:spPr>
          <a:xfrm>
            <a:off x="991444" y="1368448"/>
            <a:ext cx="5831632" cy="38287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419" b="1" dirty="0"/>
              <a:t>Selección de Atracción: </a:t>
            </a:r>
          </a:p>
          <a:p>
            <a:pPr algn="just"/>
            <a:r>
              <a:rPr lang="es-419" dirty="0"/>
              <a:t>El usuario podrá seleccionar una atracción visible en la pantalla. Al seleccionar la atracción el sistema debe cargar en pantalla la información asociada a dicho objeto en una tabla. </a:t>
            </a:r>
          </a:p>
          <a:p>
            <a:pPr algn="just"/>
            <a:r>
              <a:rPr lang="es-419" dirty="0"/>
              <a:t>La información a mostrar 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419" dirty="0">
                <a:highlight>
                  <a:srgbClr val="FFFF00"/>
                </a:highlight>
              </a:rPr>
              <a:t>Nombre de la atracción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419" dirty="0">
                <a:highlight>
                  <a:srgbClr val="FFFF00"/>
                </a:highlight>
              </a:rPr>
              <a:t>Tipo de atracción (montaña rusa, carrusel, rueda de la fortuna)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419" dirty="0">
                <a:highlight>
                  <a:srgbClr val="FFFF00"/>
                </a:highlight>
              </a:rPr>
              <a:t>Capacidad de personas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419" dirty="0">
                <a:highlight>
                  <a:srgbClr val="FFFF00"/>
                </a:highlight>
              </a:rPr>
              <a:t>Duración del viaje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419" dirty="0">
                <a:highlight>
                  <a:srgbClr val="FFFF00"/>
                </a:highlight>
              </a:rPr>
              <a:t>Disponibilidad (operativa/fuera de servicio)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419" dirty="0">
                <a:highlight>
                  <a:srgbClr val="FFFF00"/>
                </a:highlight>
              </a:rPr>
              <a:t>Horario de operación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419" dirty="0"/>
              <a:t>Estado (Encendida/Apagada/Abierta/Cerrada/En Mantenimiento)</a:t>
            </a:r>
          </a:p>
          <a:p>
            <a:pPr algn="just"/>
            <a:endParaRPr lang="es-419" dirty="0">
              <a:highlight>
                <a:srgbClr val="FFFF00"/>
              </a:highlight>
            </a:endParaRPr>
          </a:p>
          <a:p>
            <a:pPr algn="just"/>
            <a:r>
              <a:rPr lang="es-419" dirty="0">
                <a:highlight>
                  <a:srgbClr val="FFFF00"/>
                </a:highlight>
              </a:rPr>
              <a:t>***Esto corresponde al enunciado de la tarea 3 ya finalizada en semana 5. Es información para repasar la primera parte de la tarea. No será evaluado en esta tarea 4.</a:t>
            </a:r>
            <a:endParaRPr lang="en-US" dirty="0">
              <a:highlight>
                <a:srgbClr val="FFFF00"/>
              </a:highlight>
            </a:endParaRPr>
          </a:p>
          <a:p>
            <a:pPr algn="just"/>
            <a:endParaRPr lang="es-419" dirty="0">
              <a:highlight>
                <a:srgbClr val="FFFF00"/>
              </a:highlight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126B487-0C1F-9BF2-110D-0D8B79ECD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533" y="936516"/>
            <a:ext cx="3714459" cy="22265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2" descr="Las preferencias de los estudiantes para elegir carrera universitaria">
            <a:extLst>
              <a:ext uri="{FF2B5EF4-FFF2-40B4-BE49-F238E27FC236}">
                <a16:creationId xmlns:a16="http://schemas.microsoft.com/office/drawing/2014/main" id="{A5BBED1B-CB82-F53E-C9BA-05D587EA9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078" y="2169518"/>
            <a:ext cx="3720277" cy="222656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Trabajos escritos – Estar bien Ibero">
            <a:extLst>
              <a:ext uri="{FF2B5EF4-FFF2-40B4-BE49-F238E27FC236}">
                <a16:creationId xmlns:a16="http://schemas.microsoft.com/office/drawing/2014/main" id="{AB68A65B-B23B-32E5-1D83-4EE7BD382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569" y="3429000"/>
            <a:ext cx="3600831" cy="210335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9362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EB1D7F-284F-6F46-99FA-EBB8ED69D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161" y="542981"/>
            <a:ext cx="7532277" cy="610863"/>
          </a:xfrm>
        </p:spPr>
        <p:txBody>
          <a:bodyPr>
            <a:normAutofit/>
          </a:bodyPr>
          <a:lstStyle/>
          <a:p>
            <a:r>
              <a:rPr lang="en-US" dirty="0"/>
              <a:t>Enunciado </a:t>
            </a:r>
            <a:r>
              <a:rPr lang="en-US" dirty="0" err="1"/>
              <a:t>Tarea</a:t>
            </a:r>
            <a:r>
              <a:rPr lang="en-US" dirty="0"/>
              <a:t> 4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2DA2B67-BDBB-C945-988B-6C0D86F697C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971550" y="6332220"/>
            <a:ext cx="523240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EAEE347-BDD8-5349-BB37-C8938BFCFF4C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1494790" y="6332220"/>
            <a:ext cx="1497330" cy="247651"/>
          </a:xfrm>
        </p:spPr>
        <p:txBody>
          <a:bodyPr/>
          <a:lstStyle/>
          <a:p>
            <a:r>
              <a:rPr lang="en-US" dirty="0"/>
              <a:t>ISI-BSI-11 Programación IV</a:t>
            </a:r>
          </a:p>
        </p:txBody>
      </p:sp>
      <p:sp>
        <p:nvSpPr>
          <p:cNvPr id="50" name="Date Placeholder 3">
            <a:extLst>
              <a:ext uri="{FF2B5EF4-FFF2-40B4-BE49-F238E27FC236}">
                <a16:creationId xmlns:a16="http://schemas.microsoft.com/office/drawing/2014/main" id="{7D353309-7E97-48EA-8ACC-B2751769E2D4}"/>
              </a:ext>
            </a:extLst>
          </p:cNvPr>
          <p:cNvSpPr txBox="1">
            <a:spLocks/>
          </p:cNvSpPr>
          <p:nvPr/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A8E82-58CD-E045-8B98-B7A85B79B752}" type="datetime4">
              <a:rPr lang="en-US" smtClean="0"/>
              <a:pPr/>
              <a:t>February 21, 2026</a:t>
            </a:fld>
            <a:endParaRPr lang="en-US" dirty="0"/>
          </a:p>
        </p:txBody>
      </p:sp>
      <p:pic>
        <p:nvPicPr>
          <p:cNvPr id="2" name="Picture 2" descr="Universidad Americana (UAM)">
            <a:extLst>
              <a:ext uri="{FF2B5EF4-FFF2-40B4-BE49-F238E27FC236}">
                <a16:creationId xmlns:a16="http://schemas.microsoft.com/office/drawing/2014/main" id="{DAD1B97A-5E54-DBD8-AEC4-CA791117E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5715000"/>
            <a:ext cx="27432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40C18AD-0A7C-2D32-B946-0B2D0DFBDEEB}"/>
              </a:ext>
            </a:extLst>
          </p:cNvPr>
          <p:cNvSpPr txBox="1">
            <a:spLocks/>
          </p:cNvSpPr>
          <p:nvPr/>
        </p:nvSpPr>
        <p:spPr>
          <a:xfrm>
            <a:off x="991444" y="1368448"/>
            <a:ext cx="5831632" cy="44198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419" b="1" dirty="0"/>
              <a:t>Acciones de Atracción: </a:t>
            </a:r>
          </a:p>
          <a:p>
            <a:pPr algn="just"/>
            <a:r>
              <a:rPr lang="es-419" dirty="0"/>
              <a:t>El usuario podrá seleccionar una acción a realizar de la atracción por medio de botones visibles en la pantalla. </a:t>
            </a:r>
          </a:p>
          <a:p>
            <a:pPr algn="just"/>
            <a:r>
              <a:rPr lang="es-419" dirty="0"/>
              <a:t>Las acciones disponibles son: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419" dirty="0"/>
              <a:t>Iniciar atracción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419" dirty="0"/>
              <a:t>Detener atracción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419" dirty="0"/>
              <a:t>Realizar mantenimiento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419" dirty="0"/>
              <a:t>Abrir atracción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419" dirty="0"/>
              <a:t>Cerrar atracción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419" dirty="0"/>
              <a:t>Consultar disponibilidad (Mensaje en pantalla)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419" dirty="0"/>
          </a:p>
          <a:p>
            <a:pPr algn="just"/>
            <a:r>
              <a:rPr lang="es-419" dirty="0"/>
              <a:t>La información a mostrar en la tabla debe ser: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419" dirty="0"/>
              <a:t>Acción seleccionada, Tipo de Atracción, Nombre de Atracción, Estado</a:t>
            </a:r>
          </a:p>
          <a:p>
            <a:pPr algn="just"/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126B487-0C1F-9BF2-110D-0D8B79ECD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533" y="936516"/>
            <a:ext cx="3714459" cy="22265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2" descr="Las preferencias de los estudiantes para elegir carrera universitaria">
            <a:extLst>
              <a:ext uri="{FF2B5EF4-FFF2-40B4-BE49-F238E27FC236}">
                <a16:creationId xmlns:a16="http://schemas.microsoft.com/office/drawing/2014/main" id="{A5BBED1B-CB82-F53E-C9BA-05D587EA9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078" y="2169518"/>
            <a:ext cx="3720277" cy="222656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Trabajos escritos – Estar bien Ibero">
            <a:extLst>
              <a:ext uri="{FF2B5EF4-FFF2-40B4-BE49-F238E27FC236}">
                <a16:creationId xmlns:a16="http://schemas.microsoft.com/office/drawing/2014/main" id="{AB68A65B-B23B-32E5-1D83-4EE7BD382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569" y="3429000"/>
            <a:ext cx="3600831" cy="210335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060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EB1D7F-284F-6F46-99FA-EBB8ED69D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161" y="542981"/>
            <a:ext cx="7532277" cy="610863"/>
          </a:xfrm>
        </p:spPr>
        <p:txBody>
          <a:bodyPr>
            <a:normAutofit/>
          </a:bodyPr>
          <a:lstStyle/>
          <a:p>
            <a:r>
              <a:rPr lang="en-US" dirty="0"/>
              <a:t>Enunciado </a:t>
            </a:r>
            <a:r>
              <a:rPr lang="en-US" dirty="0" err="1"/>
              <a:t>Tarea</a:t>
            </a:r>
            <a:r>
              <a:rPr lang="en-US" dirty="0"/>
              <a:t> 4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2DA2B67-BDBB-C945-988B-6C0D86F697C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971550" y="6332220"/>
            <a:ext cx="523240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EAEE347-BDD8-5349-BB37-C8938BFCFF4C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1494790" y="6332220"/>
            <a:ext cx="1497330" cy="247651"/>
          </a:xfrm>
        </p:spPr>
        <p:txBody>
          <a:bodyPr/>
          <a:lstStyle/>
          <a:p>
            <a:r>
              <a:rPr lang="en-US" dirty="0"/>
              <a:t>ISI-BSI-11 Programación IV</a:t>
            </a:r>
          </a:p>
        </p:txBody>
      </p:sp>
      <p:sp>
        <p:nvSpPr>
          <p:cNvPr id="50" name="Date Placeholder 3">
            <a:extLst>
              <a:ext uri="{FF2B5EF4-FFF2-40B4-BE49-F238E27FC236}">
                <a16:creationId xmlns:a16="http://schemas.microsoft.com/office/drawing/2014/main" id="{7D353309-7E97-48EA-8ACC-B2751769E2D4}"/>
              </a:ext>
            </a:extLst>
          </p:cNvPr>
          <p:cNvSpPr txBox="1">
            <a:spLocks/>
          </p:cNvSpPr>
          <p:nvPr/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A8E82-58CD-E045-8B98-B7A85B79B752}" type="datetime4">
              <a:rPr lang="en-US" smtClean="0"/>
              <a:pPr/>
              <a:t>February 21, 2026</a:t>
            </a:fld>
            <a:endParaRPr lang="en-US" dirty="0"/>
          </a:p>
        </p:txBody>
      </p:sp>
      <p:pic>
        <p:nvPicPr>
          <p:cNvPr id="2" name="Picture 2" descr="Universidad Americana (UAM)">
            <a:extLst>
              <a:ext uri="{FF2B5EF4-FFF2-40B4-BE49-F238E27FC236}">
                <a16:creationId xmlns:a16="http://schemas.microsoft.com/office/drawing/2014/main" id="{DAD1B97A-5E54-DBD8-AEC4-CA791117E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5715000"/>
            <a:ext cx="27432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40C18AD-0A7C-2D32-B946-0B2D0DFBDEEB}"/>
              </a:ext>
            </a:extLst>
          </p:cNvPr>
          <p:cNvSpPr txBox="1">
            <a:spLocks/>
          </p:cNvSpPr>
          <p:nvPr/>
        </p:nvSpPr>
        <p:spPr>
          <a:xfrm>
            <a:off x="991444" y="1368448"/>
            <a:ext cx="5831632" cy="38287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419" b="1" dirty="0"/>
              <a:t>Restricciones: </a:t>
            </a:r>
          </a:p>
          <a:p>
            <a:pPr algn="just"/>
            <a:r>
              <a:rPr lang="es-419" dirty="0"/>
              <a:t>El usuario no podrá realizar ninguna acción si no ha seleccionado una atracción.</a:t>
            </a:r>
          </a:p>
          <a:p>
            <a:pPr algn="just"/>
            <a:r>
              <a:rPr lang="es-419" dirty="0"/>
              <a:t>El usuario no podrá realizar ninguna acción si la disponibilidad de la atracción es fuera de servicio. </a:t>
            </a:r>
          </a:p>
          <a:p>
            <a:pPr algn="just"/>
            <a:r>
              <a:rPr lang="es-419" dirty="0"/>
              <a:t>Para realizar las acciones de iniciar o detener atracción esta debe estar abierta.</a:t>
            </a:r>
          </a:p>
          <a:p>
            <a:pPr algn="just"/>
            <a:r>
              <a:rPr lang="es-419" dirty="0"/>
              <a:t>No se puede realizar mantenimiento a la atracción si esta se encuentra abierta. </a:t>
            </a:r>
          </a:p>
          <a:p>
            <a:pPr algn="just"/>
            <a:r>
              <a:rPr lang="es-419" dirty="0"/>
              <a:t>No se puede abrir, iniciar o detener la atracción si esta se encuentra en mantenimiento.</a:t>
            </a:r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126B487-0C1F-9BF2-110D-0D8B79ECD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533" y="936516"/>
            <a:ext cx="3714459" cy="22265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2" descr="Las preferencias de los estudiantes para elegir carrera universitaria">
            <a:extLst>
              <a:ext uri="{FF2B5EF4-FFF2-40B4-BE49-F238E27FC236}">
                <a16:creationId xmlns:a16="http://schemas.microsoft.com/office/drawing/2014/main" id="{A5BBED1B-CB82-F53E-C9BA-05D587EA9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078" y="2169518"/>
            <a:ext cx="3720277" cy="222656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Trabajos escritos – Estar bien Ibero">
            <a:extLst>
              <a:ext uri="{FF2B5EF4-FFF2-40B4-BE49-F238E27FC236}">
                <a16:creationId xmlns:a16="http://schemas.microsoft.com/office/drawing/2014/main" id="{AB68A65B-B23B-32E5-1D83-4EE7BD382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569" y="3429000"/>
            <a:ext cx="3600831" cy="210335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166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EB1D7F-284F-6F46-99FA-EBB8ED69D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161" y="542981"/>
            <a:ext cx="7532277" cy="610863"/>
          </a:xfrm>
        </p:spPr>
        <p:txBody>
          <a:bodyPr>
            <a:normAutofit/>
          </a:bodyPr>
          <a:lstStyle/>
          <a:p>
            <a:r>
              <a:rPr lang="en-US" dirty="0"/>
              <a:t>Enunciado </a:t>
            </a:r>
            <a:r>
              <a:rPr lang="en-US" dirty="0" err="1"/>
              <a:t>Tarea</a:t>
            </a:r>
            <a:r>
              <a:rPr lang="en-US" dirty="0"/>
              <a:t> 4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2DA2B67-BDBB-C945-988B-6C0D86F697C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971550" y="6332220"/>
            <a:ext cx="523240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EAEE347-BDD8-5349-BB37-C8938BFCFF4C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1494790" y="6332220"/>
            <a:ext cx="1497330" cy="247651"/>
          </a:xfrm>
        </p:spPr>
        <p:txBody>
          <a:bodyPr/>
          <a:lstStyle/>
          <a:p>
            <a:r>
              <a:rPr lang="en-US" dirty="0"/>
              <a:t>BIS-20 Programación IV</a:t>
            </a:r>
          </a:p>
        </p:txBody>
      </p:sp>
      <p:sp>
        <p:nvSpPr>
          <p:cNvPr id="50" name="Date Placeholder 3">
            <a:extLst>
              <a:ext uri="{FF2B5EF4-FFF2-40B4-BE49-F238E27FC236}">
                <a16:creationId xmlns:a16="http://schemas.microsoft.com/office/drawing/2014/main" id="{7D353309-7E97-48EA-8ACC-B2751769E2D4}"/>
              </a:ext>
            </a:extLst>
          </p:cNvPr>
          <p:cNvSpPr txBox="1">
            <a:spLocks/>
          </p:cNvSpPr>
          <p:nvPr/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A8E82-58CD-E045-8B98-B7A85B79B752}" type="datetime4">
              <a:rPr lang="en-US" smtClean="0"/>
              <a:pPr/>
              <a:t>February 21, 2026</a:t>
            </a:fld>
            <a:endParaRPr lang="en-US" dirty="0"/>
          </a:p>
        </p:txBody>
      </p:sp>
      <p:pic>
        <p:nvPicPr>
          <p:cNvPr id="2" name="Picture 2" descr="Universidad Americana (UAM)">
            <a:extLst>
              <a:ext uri="{FF2B5EF4-FFF2-40B4-BE49-F238E27FC236}">
                <a16:creationId xmlns:a16="http://schemas.microsoft.com/office/drawing/2014/main" id="{DAD1B97A-5E54-DBD8-AEC4-CA791117E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5715000"/>
            <a:ext cx="27432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40C18AD-0A7C-2D32-B946-0B2D0DFBDEEB}"/>
              </a:ext>
            </a:extLst>
          </p:cNvPr>
          <p:cNvSpPr txBox="1">
            <a:spLocks/>
          </p:cNvSpPr>
          <p:nvPr/>
        </p:nvSpPr>
        <p:spPr>
          <a:xfrm>
            <a:off x="991444" y="1368448"/>
            <a:ext cx="5831632" cy="38287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419" b="1" dirty="0"/>
              <a:t>Consideraciones:</a:t>
            </a:r>
          </a:p>
          <a:p>
            <a:pPr algn="just"/>
            <a:r>
              <a:rPr lang="es-419" dirty="0"/>
              <a:t>El usuario debe tener un insumo visual que le indique que tipo de atracción está seleccionando. </a:t>
            </a:r>
          </a:p>
          <a:p>
            <a:pPr algn="just"/>
            <a:r>
              <a:rPr lang="es-419" dirty="0"/>
              <a:t>Como mínimo debe existir 10 atracciones. </a:t>
            </a:r>
          </a:p>
          <a:p>
            <a:pPr algn="just"/>
            <a:r>
              <a:rPr lang="es-419" dirty="0"/>
              <a:t>Debe hacer uso del paradigma de programación orientada a objetos y la estructura en capas de la solución. </a:t>
            </a:r>
          </a:p>
          <a:p>
            <a:pPr algn="just"/>
            <a:r>
              <a:rPr lang="es-419" dirty="0"/>
              <a:t>Puede hacer uso de hojas de estilo personalizadas y cualquier otro recurso que considere necesario para mejorar la estética de la interface de usuario. </a:t>
            </a:r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126B487-0C1F-9BF2-110D-0D8B79ECD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533" y="936516"/>
            <a:ext cx="3714459" cy="22265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2" descr="Las preferencias de los estudiantes para elegir carrera universitaria">
            <a:extLst>
              <a:ext uri="{FF2B5EF4-FFF2-40B4-BE49-F238E27FC236}">
                <a16:creationId xmlns:a16="http://schemas.microsoft.com/office/drawing/2014/main" id="{A5BBED1B-CB82-F53E-C9BA-05D587EA9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078" y="2169518"/>
            <a:ext cx="3720277" cy="222656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Trabajos escritos – Estar bien Ibero">
            <a:extLst>
              <a:ext uri="{FF2B5EF4-FFF2-40B4-BE49-F238E27FC236}">
                <a16:creationId xmlns:a16="http://schemas.microsoft.com/office/drawing/2014/main" id="{AB68A65B-B23B-32E5-1D83-4EE7BD382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569" y="3429000"/>
            <a:ext cx="3600831" cy="210335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627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EB1D7F-284F-6F46-99FA-EBB8ED69D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161" y="542981"/>
            <a:ext cx="7532277" cy="610863"/>
          </a:xfrm>
        </p:spPr>
        <p:txBody>
          <a:bodyPr/>
          <a:lstStyle/>
          <a:p>
            <a:r>
              <a:rPr lang="en-US" dirty="0"/>
              <a:t>Enunciado </a:t>
            </a:r>
            <a:r>
              <a:rPr lang="en-US" dirty="0" err="1"/>
              <a:t>Tarea</a:t>
            </a:r>
            <a:r>
              <a:rPr lang="en-US" dirty="0"/>
              <a:t> 4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2DA2B67-BDBB-C945-988B-6C0D86F697C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971550" y="6332220"/>
            <a:ext cx="523240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EAEE347-BDD8-5349-BB37-C8938BFCFF4C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1494790" y="6332220"/>
            <a:ext cx="1497330" cy="247651"/>
          </a:xfrm>
        </p:spPr>
        <p:txBody>
          <a:bodyPr/>
          <a:lstStyle/>
          <a:p>
            <a:r>
              <a:rPr lang="en-US" dirty="0"/>
              <a:t>BIS-20 Programación IV</a:t>
            </a:r>
          </a:p>
        </p:txBody>
      </p:sp>
      <p:sp>
        <p:nvSpPr>
          <p:cNvPr id="50" name="Date Placeholder 3">
            <a:extLst>
              <a:ext uri="{FF2B5EF4-FFF2-40B4-BE49-F238E27FC236}">
                <a16:creationId xmlns:a16="http://schemas.microsoft.com/office/drawing/2014/main" id="{7D353309-7E97-48EA-8ACC-B2751769E2D4}"/>
              </a:ext>
            </a:extLst>
          </p:cNvPr>
          <p:cNvSpPr txBox="1">
            <a:spLocks/>
          </p:cNvSpPr>
          <p:nvPr/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A8E82-58CD-E045-8B98-B7A85B79B752}" type="datetime4">
              <a:rPr lang="en-US" smtClean="0"/>
              <a:pPr/>
              <a:t>February 21, 2026</a:t>
            </a:fld>
            <a:endParaRPr lang="en-US" dirty="0"/>
          </a:p>
        </p:txBody>
      </p:sp>
      <p:pic>
        <p:nvPicPr>
          <p:cNvPr id="2" name="Picture 2" descr="Universidad Americana (UAM)">
            <a:extLst>
              <a:ext uri="{FF2B5EF4-FFF2-40B4-BE49-F238E27FC236}">
                <a16:creationId xmlns:a16="http://schemas.microsoft.com/office/drawing/2014/main" id="{DAD1B97A-5E54-DBD8-AEC4-CA791117E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5715000"/>
            <a:ext cx="27432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40C18AD-0A7C-2D32-B946-0B2D0DFBDEEB}"/>
              </a:ext>
            </a:extLst>
          </p:cNvPr>
          <p:cNvSpPr txBox="1">
            <a:spLocks/>
          </p:cNvSpPr>
          <p:nvPr/>
        </p:nvSpPr>
        <p:spPr>
          <a:xfrm>
            <a:off x="971550" y="1446418"/>
            <a:ext cx="5671846" cy="35081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La Solución debe ser entregada en el campus virtual </a:t>
            </a:r>
            <a:r>
              <a:rPr lang="en-US" dirty="0" err="1"/>
              <a:t>en</a:t>
            </a:r>
            <a:r>
              <a:rPr lang="en-US" dirty="0"/>
              <a:t> un único archivo comprimido (.rar | .zip).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Fecha límite de </a:t>
            </a:r>
            <a:r>
              <a:rPr lang="en-US" dirty="0" err="1"/>
              <a:t>Entrega</a:t>
            </a:r>
            <a:r>
              <a:rPr lang="en-US" dirty="0"/>
              <a:t> </a:t>
            </a:r>
            <a:r>
              <a:rPr lang="en-US" b="1" dirty="0"/>
              <a:t>27/02/2026 – </a:t>
            </a:r>
            <a:r>
              <a:rPr lang="en-US" b="1" u="sng" dirty="0"/>
              <a:t>11:59</a:t>
            </a:r>
            <a:r>
              <a:rPr lang="en-US" b="1" dirty="0"/>
              <a:t> pm  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Entrega de forma individual. Las que </a:t>
            </a:r>
            <a:r>
              <a:rPr lang="en-US" dirty="0" err="1"/>
              <a:t>sean</a:t>
            </a:r>
            <a:r>
              <a:rPr lang="en-US" dirty="0"/>
              <a:t> </a:t>
            </a:r>
            <a:r>
              <a:rPr lang="en-US" dirty="0" err="1"/>
              <a:t>exactamente</a:t>
            </a:r>
            <a:r>
              <a:rPr lang="en-US" dirty="0"/>
              <a:t> </a:t>
            </a:r>
            <a:r>
              <a:rPr lang="en-US" dirty="0" err="1"/>
              <a:t>iguales</a:t>
            </a:r>
            <a:r>
              <a:rPr lang="en-US" dirty="0"/>
              <a:t> </a:t>
            </a:r>
            <a:r>
              <a:rPr lang="en-US" dirty="0" err="1"/>
              <a:t>serán</a:t>
            </a:r>
            <a:r>
              <a:rPr lang="en-US" dirty="0"/>
              <a:t> </a:t>
            </a:r>
            <a:r>
              <a:rPr lang="en-US" dirty="0" err="1"/>
              <a:t>anuladas</a:t>
            </a:r>
            <a:r>
              <a:rPr lang="en-US" dirty="0"/>
              <a:t> </a:t>
            </a:r>
            <a:r>
              <a:rPr lang="en-US" dirty="0" err="1"/>
              <a:t>así</a:t>
            </a:r>
            <a:r>
              <a:rPr lang="en-US" dirty="0"/>
              <a:t> como </a:t>
            </a:r>
            <a:r>
              <a:rPr lang="en-US" dirty="0" err="1"/>
              <a:t>aquellas</a:t>
            </a:r>
            <a:r>
              <a:rPr lang="en-US" dirty="0"/>
              <a:t> en las que no se </a:t>
            </a:r>
            <a:r>
              <a:rPr lang="en-US" dirty="0" err="1"/>
              <a:t>respeta</a:t>
            </a:r>
            <a:r>
              <a:rPr lang="en-US" dirty="0"/>
              <a:t> la nomenclatura del archivo a </a:t>
            </a:r>
            <a:r>
              <a:rPr lang="en-US" dirty="0" err="1"/>
              <a:t>entregar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Valor de Tarea :  2%</a:t>
            </a:r>
          </a:p>
          <a:p>
            <a:pPr algn="just"/>
            <a:r>
              <a:rPr lang="en-US" b="1" dirty="0" err="1"/>
              <a:t>Tarea</a:t>
            </a:r>
            <a:r>
              <a:rPr lang="en-US" b="1" dirty="0"/>
              <a:t> 4 de 10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1EF11C-FBD2-186B-0395-2D731F307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533" y="936516"/>
            <a:ext cx="3714459" cy="22265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2" descr="Las preferencias de los estudiantes para elegir carrera universitaria">
            <a:extLst>
              <a:ext uri="{FF2B5EF4-FFF2-40B4-BE49-F238E27FC236}">
                <a16:creationId xmlns:a16="http://schemas.microsoft.com/office/drawing/2014/main" id="{F537A615-C09E-1D59-D59B-0D9566F7F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078" y="2169518"/>
            <a:ext cx="3720277" cy="222656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Trabajos escritos – Estar bien Ibero">
            <a:extLst>
              <a:ext uri="{FF2B5EF4-FFF2-40B4-BE49-F238E27FC236}">
                <a16:creationId xmlns:a16="http://schemas.microsoft.com/office/drawing/2014/main" id="{9196C26D-8561-BD46-F667-AD33E5E03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569" y="3429000"/>
            <a:ext cx="3600831" cy="210335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201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EB1D7F-284F-6F46-99FA-EBB8ED69D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161" y="542981"/>
            <a:ext cx="7532277" cy="610863"/>
          </a:xfrm>
        </p:spPr>
        <p:txBody>
          <a:bodyPr>
            <a:normAutofit/>
          </a:bodyPr>
          <a:lstStyle/>
          <a:p>
            <a:r>
              <a:rPr lang="en-US" dirty="0"/>
              <a:t>Enunciado Tarea 4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2DA2B67-BDBB-C945-988B-6C0D86F697C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971550" y="6332220"/>
            <a:ext cx="523240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EAEE347-BDD8-5349-BB37-C8938BFCFF4C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1494790" y="6332220"/>
            <a:ext cx="1497330" cy="247651"/>
          </a:xfrm>
        </p:spPr>
        <p:txBody>
          <a:bodyPr/>
          <a:lstStyle/>
          <a:p>
            <a:r>
              <a:rPr lang="en-US" dirty="0"/>
              <a:t>BIS-20 Programación IV</a:t>
            </a:r>
          </a:p>
        </p:txBody>
      </p:sp>
      <p:sp>
        <p:nvSpPr>
          <p:cNvPr id="50" name="Date Placeholder 3">
            <a:extLst>
              <a:ext uri="{FF2B5EF4-FFF2-40B4-BE49-F238E27FC236}">
                <a16:creationId xmlns:a16="http://schemas.microsoft.com/office/drawing/2014/main" id="{7D353309-7E97-48EA-8ACC-B2751769E2D4}"/>
              </a:ext>
            </a:extLst>
          </p:cNvPr>
          <p:cNvSpPr txBox="1">
            <a:spLocks/>
          </p:cNvSpPr>
          <p:nvPr/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A8E82-58CD-E045-8B98-B7A85B79B752}" type="datetime4">
              <a:rPr lang="en-US" smtClean="0"/>
              <a:pPr/>
              <a:t>February 21, 2026</a:t>
            </a:fld>
            <a:endParaRPr lang="en-US" dirty="0"/>
          </a:p>
        </p:txBody>
      </p:sp>
      <p:pic>
        <p:nvPicPr>
          <p:cNvPr id="2" name="Picture 2" descr="Universidad Americana (UAM)">
            <a:extLst>
              <a:ext uri="{FF2B5EF4-FFF2-40B4-BE49-F238E27FC236}">
                <a16:creationId xmlns:a16="http://schemas.microsoft.com/office/drawing/2014/main" id="{DAD1B97A-5E54-DBD8-AEC4-CA791117E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5715000"/>
            <a:ext cx="27432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208DA56-4335-C4CE-6C5D-03E39F839279}"/>
              </a:ext>
            </a:extLst>
          </p:cNvPr>
          <p:cNvSpPr txBox="1">
            <a:spLocks/>
          </p:cNvSpPr>
          <p:nvPr/>
        </p:nvSpPr>
        <p:spPr>
          <a:xfrm>
            <a:off x="4429997" y="4278056"/>
            <a:ext cx="2133600" cy="6108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Nombre del Estudiante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7E1B2CF-040D-0472-A62A-9296B0647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61" y="1552781"/>
            <a:ext cx="2784529" cy="166913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26" name="Picture 2" descr="WinRAR">
            <a:extLst>
              <a:ext uri="{FF2B5EF4-FFF2-40B4-BE49-F238E27FC236}">
                <a16:creationId xmlns:a16="http://schemas.microsoft.com/office/drawing/2014/main" id="{A110214D-3333-6C31-7B91-C4072FAA6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425" y="4583487"/>
            <a:ext cx="864871" cy="86487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9253B70-657E-8E6B-D173-3100E2DCD18D}"/>
              </a:ext>
            </a:extLst>
          </p:cNvPr>
          <p:cNvSpPr txBox="1">
            <a:spLocks/>
          </p:cNvSpPr>
          <p:nvPr/>
        </p:nvSpPr>
        <p:spPr>
          <a:xfrm>
            <a:off x="8567908" y="4742233"/>
            <a:ext cx="3273979" cy="2476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Progra4_Tarea4_KevinMontesVarela.rar</a:t>
            </a:r>
          </a:p>
        </p:txBody>
      </p:sp>
      <p:cxnSp>
        <p:nvCxnSpPr>
          <p:cNvPr id="10" name="Conector: curvado 9">
            <a:extLst>
              <a:ext uri="{FF2B5EF4-FFF2-40B4-BE49-F238E27FC236}">
                <a16:creationId xmlns:a16="http://schemas.microsoft.com/office/drawing/2014/main" id="{46C20845-E18F-DD33-93B8-39C19DA78D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85116" y="1979591"/>
            <a:ext cx="959442" cy="5529951"/>
          </a:xfrm>
          <a:prstGeom prst="curvedConnector2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24A13E1-F288-3D7A-9D73-A3D89761E812}"/>
              </a:ext>
            </a:extLst>
          </p:cNvPr>
          <p:cNvSpPr txBox="1">
            <a:spLocks/>
          </p:cNvSpPr>
          <p:nvPr/>
        </p:nvSpPr>
        <p:spPr>
          <a:xfrm>
            <a:off x="919674" y="3445618"/>
            <a:ext cx="2133600" cy="6108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Solución de Visual Studio</a:t>
            </a:r>
          </a:p>
        </p:txBody>
      </p:sp>
      <p:cxnSp>
        <p:nvCxnSpPr>
          <p:cNvPr id="15" name="Conector: curvado 14">
            <a:extLst>
              <a:ext uri="{FF2B5EF4-FFF2-40B4-BE49-F238E27FC236}">
                <a16:creationId xmlns:a16="http://schemas.microsoft.com/office/drawing/2014/main" id="{C4DACADF-19C5-C75E-AD19-5FA1A32FC8E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501735" y="3395116"/>
            <a:ext cx="120621" cy="2256121"/>
          </a:xfrm>
          <a:prstGeom prst="curvedConnector5">
            <a:avLst>
              <a:gd name="adj1" fmla="val -189519"/>
              <a:gd name="adj2" fmla="val 64059"/>
              <a:gd name="adj3" fmla="val 289519"/>
            </a:avLst>
          </a:prstGeom>
          <a:ln w="381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Las preferencias de los estudiantes para elegir carrera universitaria">
            <a:extLst>
              <a:ext uri="{FF2B5EF4-FFF2-40B4-BE49-F238E27FC236}">
                <a16:creationId xmlns:a16="http://schemas.microsoft.com/office/drawing/2014/main" id="{DE3740AB-6436-7CC9-A259-4E6653B9A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364" y="2448445"/>
            <a:ext cx="2784529" cy="166652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471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Cierre</a:t>
            </a:r>
          </a:p>
        </p:txBody>
      </p:sp>
      <p:pic>
        <p:nvPicPr>
          <p:cNvPr id="5122" name="Picture 2" descr="Las preferencias de los estudiantes para elegir carrera universitaria">
            <a:extLst>
              <a:ext uri="{FF2B5EF4-FFF2-40B4-BE49-F238E27FC236}">
                <a16:creationId xmlns:a16="http://schemas.microsoft.com/office/drawing/2014/main" id="{4ECE6E5A-BDEC-6661-69AC-5E435185F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19" y="1322614"/>
            <a:ext cx="5190931" cy="389319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Universidad Americana (UAM)">
            <a:extLst>
              <a:ext uri="{FF2B5EF4-FFF2-40B4-BE49-F238E27FC236}">
                <a16:creationId xmlns:a16="http://schemas.microsoft.com/office/drawing/2014/main" id="{AFF58113-EF37-BDDD-6661-56DFAA0FF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5715000"/>
            <a:ext cx="27432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667731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Personalizado 4">
      <a:dk1>
        <a:srgbClr val="000000"/>
      </a:dk1>
      <a:lt1>
        <a:srgbClr val="FFFFFF"/>
      </a:lt1>
      <a:dk2>
        <a:srgbClr val="C00000"/>
      </a:dk2>
      <a:lt2>
        <a:srgbClr val="C00000"/>
      </a:lt2>
      <a:accent1>
        <a:srgbClr val="A9D4DB"/>
      </a:accent1>
      <a:accent2>
        <a:srgbClr val="FBE284"/>
      </a:accent2>
      <a:accent3>
        <a:srgbClr val="3F3F3F"/>
      </a:accent3>
      <a:accent4>
        <a:srgbClr val="AA5881"/>
      </a:accent4>
      <a:accent5>
        <a:srgbClr val="E06742"/>
      </a:accent5>
      <a:accent6>
        <a:srgbClr val="C00000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annual presentation" id="{C1063DDD-BD45-4B17-8F67-69F4620CFA80}" vid="{EE925AA1-D437-4402-9126-83C3949115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C8E66C-AC30-44BA-8882-3290DF968F1F}">
  <ds:schemaRefs>
    <ds:schemaRef ds:uri="http://schemas.microsoft.com/office/2006/documentManagement/types"/>
    <ds:schemaRef ds:uri="http://purl.org/dc/elements/1.1/"/>
    <ds:schemaRef ds:uri="71af3243-3dd4-4a8d-8c0d-dd76da1f02a5"/>
    <ds:schemaRef ds:uri="http://schemas.microsoft.com/sharepoint/v3"/>
    <ds:schemaRef ds:uri="http://schemas.microsoft.com/office/infopath/2007/PartnerControls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230e9df3-be65-4c73-a93b-d1236ebd677e"/>
    <ds:schemaRef ds:uri="16c05727-aa75-4e4a-9b5f-8a80a116589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1446DA3-37A7-4516-A4F6-8B99D0D312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EBEE06-2B28-4E77-9CB6-A74873B392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{D3430533-BCE9-43A2-8E02-49021E7BBA91}tf78853419_win32</Template>
  <TotalTime>4088</TotalTime>
  <Words>581</Words>
  <Application>Microsoft Office PowerPoint</Application>
  <PresentationFormat>Panorámica</PresentationFormat>
  <Paragraphs>88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Franklin Gothic Book</vt:lpstr>
      <vt:lpstr>Franklin Gothic Demi</vt:lpstr>
      <vt:lpstr>Wingdings</vt:lpstr>
      <vt:lpstr>Theme1</vt:lpstr>
      <vt:lpstr>BIS-20 Programación IV</vt:lpstr>
      <vt:lpstr>Enunciado Tarea 4</vt:lpstr>
      <vt:lpstr>Enunciado Tarea 3</vt:lpstr>
      <vt:lpstr>Enunciado Tarea 4</vt:lpstr>
      <vt:lpstr>Enunciado Tarea 4</vt:lpstr>
      <vt:lpstr>Enunciado Tarea 4</vt:lpstr>
      <vt:lpstr>Enunciado Tarea 4</vt:lpstr>
      <vt:lpstr>Enunciado Tarea 4</vt:lpstr>
      <vt:lpstr>Cierre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ISI-BSI-09 Programación III</dc:title>
  <dc:creator>Kevin Montes</dc:creator>
  <cp:lastModifiedBy>KEVIN ALEXANDER MONTES VARELA</cp:lastModifiedBy>
  <cp:revision>94</cp:revision>
  <dcterms:created xsi:type="dcterms:W3CDTF">2024-01-22T21:54:47Z</dcterms:created>
  <dcterms:modified xsi:type="dcterms:W3CDTF">2026-02-21T17:09:58Z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